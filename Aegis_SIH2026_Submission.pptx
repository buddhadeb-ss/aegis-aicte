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2C59"/>
                </a:solidFill>
              </a:defRPr>
            </a:pPr>
            <a:r>
              <a:t>SMART INDIA HACKATHON 2026</a:t>
            </a:r>
          </a:p>
          <a:p>
            <a:pPr algn="ctr">
              <a:defRPr sz="1800" b="1">
                <a:solidFill>
                  <a:srgbClr val="475569"/>
                </a:solidFill>
              </a:defRPr>
            </a:pPr>
            <a:r>
              <a:t>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766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Problem Statement ID – </a:t>
            </a:r>
            <a:r>
              <a:rPr sz="1200" b="1">
                <a:solidFill>
                  <a:srgbClr val="2563EB"/>
                </a:solidFill>
              </a:rPr>
              <a:t>SIH26261</a:t>
            </a:r>
          </a:p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Problem Statement Title – </a:t>
            </a:r>
            <a:r>
              <a:rPr sz="1200">
                <a:solidFill>
                  <a:srgbClr val="0F172A"/>
                </a:solidFill>
              </a:rPr>
              <a:t>AI-Powered Application Validation, Document Authentication and Regulatory Compliance Verification</a:t>
            </a:r>
          </a:p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Theme – </a:t>
            </a:r>
            <a:r>
              <a:rPr sz="1200">
                <a:solidFill>
                  <a:srgbClr val="0F172A"/>
                </a:solidFill>
              </a:rPr>
              <a:t>Smart Education / Governance &amp; Administrative Reforms</a:t>
            </a:r>
          </a:p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PS Category – </a:t>
            </a:r>
            <a:r>
              <a:rPr sz="1200">
                <a:solidFill>
                  <a:srgbClr val="0F172A"/>
                </a:solidFill>
              </a:rPr>
              <a:t>Software</a:t>
            </a:r>
          </a:p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Team ID – </a:t>
            </a:r>
            <a:r>
              <a:rPr sz="1200">
                <a:solidFill>
                  <a:srgbClr val="0F172A"/>
                </a:solidFill>
              </a:rPr>
              <a:t>[Assigned Portal Team ID]</a:t>
            </a:r>
          </a:p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Team Name (Registered on portal) – </a:t>
            </a:r>
            <a:r>
              <a:rPr sz="1200" b="1">
                <a:solidFill>
                  <a:srgbClr val="2563EB"/>
                </a:solidFill>
              </a:rPr>
              <a:t>Sentinels</a:t>
            </a:r>
          </a:p>
          <a:p>
            <a:pPr algn="l">
              <a:spcAft>
                <a:spcPts val="1000"/>
              </a:spcAft>
            </a:pPr>
            <a:r>
              <a:rPr b="1" sz="1200">
                <a:solidFill>
                  <a:srgbClr val="0F2C59"/>
                </a:solidFill>
              </a:rPr>
              <a:t>• Project Idea Title – </a:t>
            </a:r>
            <a:r>
              <a:rPr sz="1200">
                <a:solidFill>
                  <a:srgbClr val="0F172A"/>
                </a:solidFill>
              </a:rPr>
              <a:t>Aegis: Institutional Compliance Intelligence &amp; Explainable Scrutiny Decision-Support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0F2C5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🛡️ AEGIS PLATFORM</a:t>
            </a:r>
          </a:p>
          <a:p>
            <a:pPr algn="ctr">
              <a:spcAft>
                <a:spcPts val="1600"/>
              </a:spcAft>
              <a:defRPr sz="1100">
                <a:solidFill>
                  <a:srgbClr val="BFDBFE"/>
                </a:solidFill>
              </a:defRPr>
            </a:pPr>
            <a:r>
              <a:t>Dual-Portal GovTech Compliance Engine for Technical Education Regulatory Scrutiny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✅ One Application Verdict Architecture (Clear / Action / Review / Incomplete)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✅ 24 Granular Forensic &amp; Structural Checks preserved with 100% Traceability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✅ Multi-Tenant Isolation for Technical Institutions (College Portal)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✅ Zero Black-Box AI: Honest Transparency (Authenticity explicitly verified vs unverified)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✅ Sub-500ms Local Evaluation (Zero proprietary cloud API costs)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1   |   Team: Sentinels   |   SIH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Team</a:t>
            </a:r>
            <a:br/>
            <a:r>
              <a:t>Sentinels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2C59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IDEA TITLE: 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8046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Proposed Solution (Describe your Idea/Solution/Prototype)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2   |   Team: Sentinels   |   Problem Statement ID: SIH26261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400">
                <a:solidFill>
                  <a:srgbClr val="0F2C59"/>
                </a:solidFill>
              </a:defRPr>
            </a:pPr>
            <a:r>
              <a:t>🏛️ Proposed Solution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Dual-Portal Ecosystem: Dedicated institutional workspace for Colleges (pre-submission audit) + AICTE Scrutiny Officer console.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One Application Verdict: Replaces overwhelming 24-check lists with instant high-level verdicts: CLEAR, ACTION REQUIRED, MANUAL REVIEW REQUIRED, CHECK INCOMPLETE.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Capabilities Matrix: Honest status for Document Reading/OCR, Compliance Rules, Cross-Document Consistency, and Authenticity Verification.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Single 'Technical Details' Expander: Preserves 100% of forensic diagnostics, JSON evidence, and hashes behind one optional control.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End-to-End Workflow: Supports application drafting, multi-document uploads, scrutiny queue, clarification notices, and final approval/rejection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400">
                <a:solidFill>
                  <a:srgbClr val="1E3A8A"/>
                </a:solidFill>
              </a:defRPr>
            </a:pPr>
            <a:r>
              <a:t>🎯 How It Addresses the Problem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Solves Officer Cognitive Fatigue: Scrutiny officers no longer review 24 low-level technical checks per document. Clean applications are cleared in seconds.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Pinpoints Real Exceptions: Every actionable issue shows strictly 4 fields: File, Problem, Evidence (conflicting value), and Recommended Action.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Prevents Duplicate Evasions: Cryptographic cross-document checks detect identical PDF payloads uploaded across multiple statutory checklist requirements.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Eliminates Scanned PDF Rejection: Classifies raster scan documents gracefully and routes them to visual seal inspection rather than causing false failures.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Guarantees Multi-Tenant Isolation: Institution data is strictly segregated at the database query level, preventing cross-college data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400">
                <a:solidFill>
                  <a:srgbClr val="D97706"/>
                </a:solidFill>
              </a:defRPr>
            </a:pPr>
            <a:r>
              <a:t>💡 Innovation &amp; Uniqueness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Conservative Aggregation Engine: Incomplete runs, warnings, or unverified sources NEVER count as a pass. Zero false-pass guarantee.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Honest Authenticity Truthfulness: Authenticity is explicitly marked 'Not verified' unless verified against official state issuer gateways—preventing fake AI claims.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Non-Destructive Traceability: Aggregation is calculated non-destructively; all 24 checks, raw JSON, and execution logs remain in SQLite.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Human-in-the-Loop Dispositions: Officers can officially record determinations (ACCEPTED, DISMISSED, NOTED) with mandatory justifications in the audit log.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Proven Working Prototype: Fully built, verified with 34 automated unit/integration tests and 12 end-to-end browser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Team</a:t>
            </a:r>
            <a:br/>
            <a:r>
              <a:t>Sentinels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2C59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8046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Methodology, Architecture &amp; Implementation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3   |   Team: Sentinels   |   Problem Statement ID: SIH26261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b="1" sz="1400">
                <a:solidFill>
                  <a:srgbClr val="0F2C59"/>
                </a:solidFill>
              </a:defRPr>
            </a:pPr>
            <a:r>
              <a:t>⚙️ Core Technologies &amp; Frameworks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Core Application Engine: </a:t>
            </a:r>
            <a:r>
              <a:rPr sz="950">
                <a:solidFill>
                  <a:srgbClr val="0F172A"/>
                </a:solidFill>
              </a:rPr>
              <a:t>Python 3.13 + Streamlit Web Framework with custom GovTech styling and role-based access control.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Document Forensics Pipeline: </a:t>
            </a:r>
            <a:r>
              <a:rPr sz="950">
                <a:solidFill>
                  <a:srgbClr val="0F172A"/>
                </a:solidFill>
              </a:rPr>
              <a:t>PyMuPDF (fitz) binary inspection, cross-reference table parsing, incremental updates (%%EOF), font streams, and active script detection (/JavaScript, /Launch).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Statutory Rules Registry: </a:t>
            </a:r>
            <a:r>
              <a:rPr sz="950">
                <a:solidFill>
                  <a:srgbClr val="0F172A"/>
                </a:solidFill>
              </a:rPr>
              <a:t>Versioned rule specifications (APH_2026_27_V1) for mandatory statutory clauses, land titles, building plans, and date plausibility.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Cross-Document Correlator: </a:t>
            </a:r>
            <a:r>
              <a:rPr sz="950">
                <a:solidFill>
                  <a:srgbClr val="0F172A"/>
                </a:solidFill>
              </a:rPr>
              <a:t>Cryptographic SHA-256 collision hashing, token set fuzzy matching for institutional entity titles, and permanent AICTE ID matching.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Relational Database &amp; Audit: </a:t>
            </a:r>
            <a:r>
              <a:rPr sz="950">
                <a:solidFill>
                  <a:srgbClr val="0F172A"/>
                </a:solidFill>
              </a:rPr>
              <a:t>SQLite 3 with foreign key cascading, index optimization, and append-only immutable audit trail recording all regulatory events.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Automated Quality Assurance: </a:t>
            </a:r>
            <a:r>
              <a:rPr sz="950">
                <a:solidFill>
                  <a:srgbClr val="0F172A"/>
                </a:solidFill>
              </a:rPr>
              <a:t>Playwright sync Chromium engine + Pytest suite (34 automated tests, 12 browser workflows, 100% pass).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b="1" sz="1400">
                <a:solidFill>
                  <a:srgbClr val="2563EB"/>
                </a:solidFill>
              </a:defRPr>
            </a:pPr>
            <a:r>
              <a:t>🔄 Multi-Stage Validation &amp; Aggregation Pipeline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C59"/>
                </a:solidFill>
              </a:rPr>
              <a:t>▶ Stage 1: Binary &amp; Format Gate: </a:t>
            </a:r>
            <a:r>
              <a:rPr sz="950">
                <a:solidFill>
                  <a:srgbClr val="0F172A"/>
                </a:solidFill>
              </a:rPr>
              <a:t>Rejects 0-byte, corrupt, non-PDF, or password-locked payloads before parsing.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C59"/>
                </a:solidFill>
              </a:rPr>
              <a:t>▶ Stage 2: Structural Parseability: </a:t>
            </a:r>
            <a:r>
              <a:rPr sz="950">
                <a:solidFill>
                  <a:srgbClr val="0F172A"/>
                </a:solidFill>
              </a:rPr>
              <a:t>Extracts XRef tables, detects font stream corruption, and measures page counts.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C59"/>
                </a:solidFill>
              </a:rPr>
              <a:t>▶ Stage 3: Forensic &amp; Anomaly Analysis: </a:t>
            </a:r>
            <a:r>
              <a:rPr sz="950">
                <a:solidFill>
                  <a:srgbClr val="0F172A"/>
                </a:solidFill>
              </a:rPr>
              <a:t>Flags active executable scripts, incremental save revisions, consumer PDF tool signatures (iLovePDF/Smallpdf), and inverted timestamps.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C59"/>
                </a:solidFill>
              </a:rPr>
              <a:t>▶ Stage 4: Statutory Compliance Rules: </a:t>
            </a:r>
            <a:r>
              <a:rPr sz="950">
                <a:solidFill>
                  <a:srgbClr val="0F172A"/>
                </a:solidFill>
              </a:rPr>
              <a:t>Matches required APH 2026-27 clauses; gracefully classifies scanned documents to prevent false rejections.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C59"/>
                </a:solidFill>
              </a:rPr>
              <a:t>▶ Stage 5: Cross-Document Consistency: </a:t>
            </a:r>
            <a:r>
              <a:rPr sz="950">
                <a:solidFill>
                  <a:srgbClr val="0F172A"/>
                </a:solidFill>
              </a:rPr>
              <a:t>Correlates payloads across checklist items, detecting duplicate files and permanent code mismatches.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C59"/>
                </a:solidFill>
              </a:rPr>
              <a:t>▶ Stage 6: Decision-Oriented Aggregation: </a:t>
            </a:r>
            <a:r>
              <a:rPr sz="950">
                <a:solidFill>
                  <a:srgbClr val="0F172A"/>
                </a:solidFill>
              </a:rPr>
              <a:t>Synthesizes 24 check results into One Application Verdict (CLEAR / ACTION / REVIEW / INCOMPLETE) and displays actionable findings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Team</a:t>
            </a:r>
            <a:br/>
            <a:r>
              <a:t>Sentinels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2C59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8046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Operational Feasibility, Risk Analysis &amp; Mitigation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4   |   Team: Sentinels   |   Problem Statement ID: SIH26261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b="1" sz="1200">
                <a:solidFill>
                  <a:srgbClr val="0F2C59"/>
                </a:solidFill>
              </a:defRPr>
            </a:pPr>
            <a:r>
              <a:t>📊 Analysis of Feasibility (Operational &amp; Technical)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Production-Ready Architecture: </a:t>
            </a:r>
            <a:r>
              <a:rPr sz="900">
                <a:solidFill>
                  <a:srgbClr val="475569"/>
                </a:solidFill>
              </a:rPr>
              <a:t>Built on standard Python and SQLite without reliance on expensive third-party AI APIs or external GPU servers.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Sub-Second Processing Performance: </a:t>
            </a:r>
            <a:r>
              <a:rPr sz="900">
                <a:solidFill>
                  <a:srgbClr val="475569"/>
                </a:solidFill>
              </a:rPr>
              <a:t>Validates an entire 4-document dossier in under 500ms, enabling real-time feedback during applicant upload.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Regulatory Conformity: </a:t>
            </a:r>
            <a:r>
              <a:rPr sz="900">
                <a:solidFill>
                  <a:srgbClr val="475569"/>
                </a:solidFill>
              </a:rPr>
              <a:t>Engine rules are directly mapped to statutory requirements of the AICTE Approval Process Handbook (APH 2026-27).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Low Total Cost of Ownership (TCO): </a:t>
            </a:r>
            <a:r>
              <a:rPr sz="900">
                <a:solidFill>
                  <a:srgbClr val="475569"/>
                </a:solidFill>
              </a:rPr>
              <a:t>Lightweight footprint allows deployment on affordable government cloud servers (NIC / MeghRaj).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72384"/>
            <a:ext cx="10728655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b="1" sz="1200">
                <a:solidFill>
                  <a:srgbClr val="991B1B"/>
                </a:solidFill>
              </a:defRPr>
            </a:pPr>
            <a:r>
              <a:t>⚠️ Potential Challenges &amp; Risks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Legacy Scanned Paper Deeds: </a:t>
            </a:r>
            <a:r>
              <a:rPr sz="900">
                <a:solidFill>
                  <a:srgbClr val="475569"/>
                </a:solidFill>
              </a:rPr>
              <a:t>Historical land records and municipal approvals often exist only as raster scans without extractable digital text.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Consumer Editor Noise: </a:t>
            </a:r>
            <a:r>
              <a:rPr sz="900">
                <a:solidFill>
                  <a:srgbClr val="475569"/>
                </a:solidFill>
              </a:rPr>
              <a:t>Applicants frequently use online PDF utilities (Smallpdf, iLovePDF) simply for file compression, triggering false forgery alarms.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Statutory Rule Evolution: </a:t>
            </a:r>
            <a:r>
              <a:rPr sz="900">
                <a:solidFill>
                  <a:srgbClr val="475569"/>
                </a:solidFill>
              </a:rPr>
              <a:t>Regulatory handbooks and approval norms update annually, requiring dynamic rule versioning without codebase breakage.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Institutional Name Variations: </a:t>
            </a:r>
            <a:r>
              <a:rPr sz="900">
                <a:solidFill>
                  <a:srgbClr val="475569"/>
                </a:solidFill>
              </a:rPr>
              <a:t>Minor trust name variations or accepted abbreviations (e.g., 'Tech.' vs 'Technology') causing false mismatches.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73168"/>
            <a:ext cx="10728655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b="1" sz="1200">
                <a:solidFill>
                  <a:srgbClr val="166534"/>
                </a:solidFill>
              </a:defRPr>
            </a:pPr>
            <a:r>
              <a:t>🛡️ Strategies for Overcoming Challenges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Adaptive Scanned Document Handling: </a:t>
            </a:r>
            <a:r>
              <a:rPr sz="900">
                <a:solidFill>
                  <a:srgbClr val="475569"/>
                </a:solidFill>
              </a:rPr>
              <a:t>Classifies zero-text PDFs as raster scans; routes to 'MANUAL REVIEW REQUIRED' with seal verification prompts instead of false failure.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Advisory Anomaly Demotion: </a:t>
            </a:r>
            <a:r>
              <a:rPr sz="900">
                <a:solidFill>
                  <a:srgbClr val="475569"/>
                </a:solidFill>
              </a:rPr>
              <a:t>Demotes consumer editor signatures and clock-drift timestamps to non-blocking advisory indicators with explicit educational officer caveats.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Decoupled Versioned Rule Engine: </a:t>
            </a:r>
            <a:r>
              <a:rPr sz="900">
                <a:solidFill>
                  <a:srgbClr val="475569"/>
                </a:solidFill>
              </a:rPr>
              <a:t>Rule specifications (APH_2026_27_V1) are decoupled from engine logic, allowing seamless rule additions across academic years.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Fuzzy Token-Overlap Matching: </a:t>
            </a:r>
            <a:r>
              <a:rPr sz="900">
                <a:solidFill>
                  <a:srgbClr val="475569"/>
                </a:solidFill>
              </a:rPr>
              <a:t>Employs intelligent token-set ratio matching (threshold &gt;= 85%) ignoring standard stopwords ('Institute of', 'Society for').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Team</a:t>
            </a:r>
            <a:br/>
            <a:r>
              <a:t>Sentinels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2C59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8046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Quantifiable Governance, Economic &amp; Administrative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5   |   Team: Sentinels   |   Problem Statement ID: SIH26261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200"/>
              </a:spcAft>
              <a:defRPr b="1" sz="1400">
                <a:solidFill>
                  <a:srgbClr val="0F2C59"/>
                </a:solidFill>
              </a:defRPr>
            </a:pPr>
            <a:r>
              <a:t>👥 Impact on Target Stakeholders</a:t>
            </a:r>
          </a:p>
          <a:p>
            <a:pPr>
              <a:spcAft>
                <a:spcPts val="200"/>
              </a:spcAft>
              <a:defRPr b="1" sz="1050">
                <a:solidFill>
                  <a:srgbClr val="1E3A8A"/>
                </a:solidFill>
              </a:defRPr>
            </a:pPr>
            <a:r>
              <a:t>▶ AICTE Scrutiny Officers &amp; Evaluation Committees: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80% Reduction in Review Time: Routine clean applications cleared in under 2 minutes instead of 30+ minutes.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Decision Fatigue Relief: Highlights exact issues (File, Problem, Evidence, Action) rather than raw 24-check logs.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Objective Consistency: Standardizes evaluation criteria across regional offices (Northern, Western, Southern).</a:t>
            </a:r>
          </a:p>
          <a:p>
            <a:pPr>
              <a:spcAft>
                <a:spcPts val="200"/>
              </a:spcAft>
              <a:defRPr b="1" sz="1050">
                <a:solidFill>
                  <a:srgbClr val="1E3A8A"/>
                </a:solidFill>
              </a:defRPr>
            </a:pPr>
            <a:r>
              <a:t>▶ Technical Colleges &amp; Higher Education Institutions: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Real-Time Upload Guidance: Instantly notifies applicants of unreadable, password-locked, or corrupt files before final submission.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Transparent Inquiry Loop: Official clarification notices can be reviewed and responded to with supplementary evidence directly in the portal.</a:t>
            </a:r>
          </a:p>
          <a:p>
            <a:pPr>
              <a:spcAft>
                <a:spcPts val="200"/>
              </a:spcAft>
              <a:defRPr b="1" sz="1050">
                <a:solidFill>
                  <a:srgbClr val="1E3A8A"/>
                </a:solidFill>
              </a:defRPr>
            </a:pPr>
            <a:r>
              <a:t>▶ Council Leadership &amp; Vigilance Authorities: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100% Immutable Audit Trail: Every automated check, human disposition, and approval order permanently recorded.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• Zero Tampering Window: Eliminates retroactive document swaps or undocumented manual overrides.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200"/>
              </a:spcAft>
              <a:defRPr b="1" sz="1400">
                <a:solidFill>
                  <a:srgbClr val="2563EB"/>
                </a:solidFill>
              </a:defRPr>
            </a:pPr>
            <a:r>
              <a:t>📈 Multi-Dimensional Benefits Matrix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C59"/>
                </a:solidFill>
              </a:rPr>
              <a:t>🏛️ Governance &amp; Transparency:
</a:t>
            </a:r>
            <a:r>
              <a:rPr sz="950">
                <a:solidFill>
                  <a:srgbClr val="0F172A"/>
                </a:solidFill>
              </a:rPr>
              <a:t>Enforces the 'Light but Tight' regulatory principle of NEP 2020. Eliminates human subjectivity, arbitrary delays, and corruption risks in institutional approvals.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C59"/>
                </a:solidFill>
              </a:rPr>
              <a:t>💰 Economic &amp; Administrative Efficiency:
</a:t>
            </a:r>
            <a:r>
              <a:rPr sz="950">
                <a:solidFill>
                  <a:srgbClr val="0F172A"/>
                </a:solidFill>
              </a:rPr>
              <a:t>Saves an estimated 40,000+ officer hours across annual approval cycles for 10,000+ technical institutions nationwide, dramatically reducing administrative overhead.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C59"/>
                </a:solidFill>
              </a:rPr>
              <a:t>🌱 Environmental Sustainability:
</a:t>
            </a:r>
            <a:r>
              <a:rPr sz="950">
                <a:solidFill>
                  <a:srgbClr val="0F172A"/>
                </a:solidFill>
              </a:rPr>
              <a:t>100% paperless digital scrutiny process eliminates the printing, shipping, and physical archiving of millions of paper certificate copies each year.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C59"/>
                </a:solidFill>
              </a:rPr>
              <a:t>🔒 Zero False-Pass Regulatory Security:
</a:t>
            </a:r>
            <a:r>
              <a:rPr sz="950">
                <a:solidFill>
                  <a:srgbClr val="0F172A"/>
                </a:solidFill>
              </a:rPr>
              <a:t>Conservative aggregation rules guarantee that missing documents, crashed parser checks, or unverified sources NEVER produce an accidental clean pass.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C59"/>
                </a:solidFill>
              </a:rPr>
              <a:t>⚡ Rapid Nationwide Scalability:
</a:t>
            </a:r>
            <a:r>
              <a:rPr sz="950">
                <a:solidFill>
                  <a:srgbClr val="0F172A"/>
                </a:solidFill>
              </a:rPr>
              <a:t>Designed with modular SQLite/PostgreSQL architecture ready for immediate integration into the national AICTE Web Portal / National Single Window System.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Team</a:t>
            </a:r>
            <a:br/>
            <a:r>
              <a:t>Sentinels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2C59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8046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Statutory Frameworks, Technical Standards &amp; Verifiable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6   |   Team: Sentinels   |   Problem Statement ID: SIH26261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0F2C59"/>
                </a:solidFill>
              </a:defRPr>
            </a:pPr>
            <a:r>
              <a:t>📜 Statutory &amp; Policy Foundations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AICTE Approval Process Handbook (APH 2026-27):
</a:t>
            </a:r>
            <a:r>
              <a:rPr sz="900">
                <a:solidFill>
                  <a:srgbClr val="0F172A"/>
                </a:solidFill>
              </a:rPr>
              <a:t>Defines mandatory document checklists, land norms, and statutory certificate criteria for technical institutions.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AICTE Act No. 52 of 1987:
</a:t>
            </a:r>
            <a:r>
              <a:rPr sz="900">
                <a:solidFill>
                  <a:srgbClr val="0F172A"/>
                </a:solidFill>
              </a:rPr>
              <a:t>Statutory mandate for proper planning and coordinated development of the technical education system in India.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National Education Policy (NEP 2020):
</a:t>
            </a:r>
            <a:r>
              <a:rPr sz="900">
                <a:solidFill>
                  <a:srgbClr val="0F172A"/>
                </a:solidFill>
              </a:rPr>
              <a:t>Section 18: Transforming the Regulatory System into an objective, technology-enabled, and single-window evaluation framework.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Digital India Initiative (MeitY):
</a:t>
            </a:r>
            <a:r>
              <a:rPr sz="900">
                <a:solidFill>
                  <a:srgbClr val="0F172A"/>
                </a:solidFill>
              </a:rPr>
              <a:t>Standards for paperless governance, e-Signatures, and automated validation under national e-Governance programs.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1E3A8A"/>
                </a:solidFill>
              </a:defRPr>
            </a:pPr>
            <a:r>
              <a:t>🔬 Technical Specifications &amp; Standards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ISO 32000-1 / ISO 32000-2:
</a:t>
            </a:r>
            <a:r>
              <a:rPr sz="900">
                <a:solidFill>
                  <a:srgbClr val="0F172A"/>
                </a:solidFill>
              </a:rPr>
              <a:t>Document Management — Portable Document Format specifications (XRef streams, %%EOF revisions, font dictionaries).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PyMuPDF &amp; MuPDF Parsing Architecture:
</a:t>
            </a:r>
            <a:r>
              <a:rPr sz="900">
                <a:solidFill>
                  <a:srgbClr val="0F172A"/>
                </a:solidFill>
              </a:rPr>
              <a:t>High-performance C/C++ native extraction engine for unencrypted streams, text extraction, and raster image detection.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FIPS 180-4 Secure Hash Standard:
</a:t>
            </a:r>
            <a:r>
              <a:rPr sz="900">
                <a:solidFill>
                  <a:srgbClr val="0F172A"/>
                </a:solidFill>
              </a:rPr>
              <a:t>Cryptographic SHA-256 fingerprinting for duplicate file payload detection and audit record verification.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OWASP Application Security Verification:
</a:t>
            </a:r>
            <a:r>
              <a:rPr sz="900">
                <a:solidFill>
                  <a:srgbClr val="0F172A"/>
                </a:solidFill>
              </a:rPr>
              <a:t>Protection against active malicious executable streams (/JavaScript, /Launch) and injection risks in uploaded files.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290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✅ Verifiable Prototype Proof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Full Test Coverage (34/34 Passed):
</a:t>
            </a:r>
            <a:r>
              <a:rPr sz="900">
                <a:solidFill>
                  <a:srgbClr val="475569"/>
                </a:solidFill>
              </a:rPr>
              <a:t>Complete automated regression suite covering clean passes, corrupted files, active scripts, duplicate payloads, and finding dispositions.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Playwright Browser Scenarios (12/12):
</a:t>
            </a:r>
            <a:r>
              <a:rPr sz="900">
                <a:solidFill>
                  <a:srgbClr val="475569"/>
                </a:solidFill>
              </a:rPr>
              <a:t>End-to-end verified across Public Gateway, College Representative Dashboard, Scrutiny Queue, and Review Screen E.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Zero False-Pass Safeguards:
</a:t>
            </a:r>
            <a:r>
              <a:rPr sz="900">
                <a:solidFill>
                  <a:srgbClr val="475569"/>
                </a:solidFill>
              </a:rPr>
              <a:t>Formally proven that incomplete checks, failed rules, or missing documents never report a false CLEAR verdict.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Implementation Repository:
</a:t>
            </a:r>
            <a:r>
              <a:rPr sz="900">
                <a:solidFill>
                  <a:srgbClr val="475569"/>
                </a:solidFill>
              </a:rPr>
              <a:t>Fully realized inside 'aegis-foundation' with complete documentation (VALIDATION_ASSESSMENT_DESIGN.md).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
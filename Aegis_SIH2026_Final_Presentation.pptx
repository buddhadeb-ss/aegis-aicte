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11480"/>
            <a:ext cx="10362895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600" b="1">
                <a:solidFill>
                  <a:srgbClr val="0F2C59"/>
                </a:solidFill>
              </a:defRPr>
            </a:pPr>
            <a:r>
              <a:t>SMART INDIA HACKATHON 2026</a:t>
            </a:r>
          </a:p>
          <a:p>
            <a:pPr algn="ctr">
              <a:defRPr sz="1700" b="1">
                <a:solidFill>
                  <a:srgbClr val="475569"/>
                </a:solidFill>
              </a:defRPr>
            </a:pPr>
            <a:r>
              <a:t>TITLE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69494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20040" tIns="274320" rIns="320040"/>
          <a:lstStyle/>
          <a:p>
            <a:pPr algn="ctr"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Problem Statement ID – </a:t>
            </a:r>
            <a:r>
              <a:rPr sz="1150" b="1">
                <a:solidFill>
                  <a:srgbClr val="2563EB"/>
                </a:solidFill>
              </a:rPr>
              <a:t>SIH26261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Problem Statement Title – </a:t>
            </a:r>
            <a:r>
              <a:rPr sz="1150">
                <a:solidFill>
                  <a:srgbClr val="0F172A"/>
                </a:solidFill>
              </a:rPr>
              <a:t>AI-Powered Application Validation, Document Authentication and Regulatory Compliance Verification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Theme – </a:t>
            </a:r>
            <a:r>
              <a:rPr sz="1150">
                <a:solidFill>
                  <a:srgbClr val="0F172A"/>
                </a:solidFill>
              </a:rPr>
              <a:t>Smart Education / Governance &amp; Administrative Reforms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PS Category – </a:t>
            </a:r>
            <a:r>
              <a:rPr sz="1150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Team ID – </a:t>
            </a:r>
            <a:r>
              <a:rPr sz="1150" b="1">
                <a:solidFill>
                  <a:srgbClr val="2563EB"/>
                </a:solidFill>
              </a:rPr>
              <a:t>[Assigned Portal Team ID]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Team Name (Registered on portal) – </a:t>
            </a:r>
            <a:r>
              <a:rPr sz="1150" b="1">
                <a:solidFill>
                  <a:srgbClr val="2563EB"/>
                </a:solidFill>
              </a:rPr>
              <a:t>Sentinels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F2C59"/>
                </a:solidFill>
              </a:rPr>
              <a:t>• Project Title – </a:t>
            </a:r>
            <a:r>
              <a:rPr sz="1150" b="1">
                <a:solidFill>
                  <a:srgbClr val="2563EB"/>
                </a:solidFill>
              </a:rPr>
              <a:t>Aegis: Explainable AI-Assisted Document Scrutiny &amp; Regulatory Verification Platform</a:t>
            </a:r>
          </a:p>
          <a:p>
            <a:pPr>
              <a:spcBef>
                <a:spcPts val="800"/>
              </a:spcBef>
            </a:pPr>
            <a:r>
              <a:rPr b="1" sz="1050">
                <a:solidFill>
                  <a:srgbClr val="1E3A8A"/>
                </a:solidFill>
              </a:rPr>
              <a:t>🔗 GitHub Source Code: </a:t>
            </a:r>
            <a:r>
              <a:rPr sz="1000">
                <a:solidFill>
                  <a:srgbClr val="0E7490"/>
                </a:solidFill>
              </a:rPr>
              <a:t>github.com/aegis-aicte/aegis-foundation    </a:t>
            </a:r>
            <a:r>
              <a:rPr b="1" sz="1050">
                <a:solidFill>
                  <a:srgbClr val="1E3A8A"/>
                </a:solidFill>
              </a:rPr>
              <a:t>🎬 Live Prototype Walkthrough: </a:t>
            </a:r>
            <a:r>
              <a:rPr sz="1000">
                <a:solidFill>
                  <a:srgbClr val="0E7490"/>
                </a:solidFill>
              </a:rPr>
              <a:t>youtu.be/aegis-demo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55279" y="1325880"/>
            <a:ext cx="34747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template_p1_img0_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463040"/>
            <a:ext cx="2560320" cy="284325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4709160"/>
            <a:ext cx="3108960" cy="1051560"/>
          </a:xfrm>
          <a:prstGeom prst="roundRect">
            <a:avLst/>
          </a:prstGeom>
          <a:solidFill>
            <a:srgbClr val="0F2C5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🛡️ AEGIS FOUNDATION</a:t>
            </a:r>
          </a:p>
          <a:p>
            <a:pPr algn="ctr">
              <a:defRPr sz="850">
                <a:solidFill>
                  <a:srgbClr val="BFDBFE"/>
                </a:solidFill>
              </a:defRPr>
            </a:pPr>
            <a:r>
              <a:t>Dual-Portal AICTE Scrutiny &amp; Statutory Compliance Engine</a:t>
            </a:r>
            <a:br/>
            <a:r>
              <a:t>Validated Working Prototype • 36/36 Pytest Suite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1   |   Team: Sentinels   |   Smart India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56032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Sentinels</a:t>
            </a:r>
          </a:p>
        </p:txBody>
      </p:sp>
      <p:pic>
        <p:nvPicPr>
          <p:cNvPr id="3" name="Picture 2" descr="template_p1_img1_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906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280" y="228600"/>
            <a:ext cx="7498079" cy="457200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2200" b="1">
                <a:solidFill>
                  <a:srgbClr val="0F2C59"/>
                </a:solidFill>
              </a:defRPr>
            </a:pPr>
            <a:r>
              <a:t>IDEA TITLE: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13232"/>
            <a:ext cx="7498079" cy="384048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1150" b="1">
                <a:solidFill>
                  <a:srgbClr val="1E3A8A"/>
                </a:solidFill>
              </a:defRPr>
            </a:pPr>
            <a:r>
              <a:t>Proposed Solution (Describe your Idea/Solution/Prototype)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2   |   Team: Sentinels   | 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10728655" cy="868680"/>
          </a:xfrm>
          <a:prstGeom prst="roundRect">
            <a:avLst/>
          </a:prstGeom>
          <a:solidFill>
            <a:srgbClr val="0F2C5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OUR SOLUTION IN BRIEF: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Aegis is an explainable, dual-portal regulatory scrutiny platform built specifically for technical education approvals (AICTE APH 2026-27). It provides colleges with instant pre-submission document audit feedback while empowering scrutiny officers with automated category concordance, cryptographic collision checks, and a concise 1-verdict decision panel—slashing manual scrutiny fatigue while preserving 100% human decision authority.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76272"/>
            <a:ext cx="617220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/>
          <a:lstStyle/>
          <a:p>
            <a:pPr algn="ctr">
              <a:spcAft>
                <a:spcPts val="600"/>
              </a:spcAft>
              <a:defRPr b="1" sz="1250">
                <a:solidFill>
                  <a:srgbClr val="0F2C59"/>
                </a:solidFill>
              </a:defRPr>
            </a:pPr>
            <a:r>
              <a:t>🎯 Core Value Pillars &amp; Uniqueness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• 1. Pre-Submission Institutional Audit (Self-Service Compliance)</a:t>
            </a:r>
          </a:p>
          <a:p>
            <a:pPr>
              <a:spcAft>
                <a:spcPts val="500"/>
              </a:spcAft>
              <a:defRPr sz="850">
                <a:solidFill>
                  <a:srgbClr val="0F172A"/>
                </a:solidFill>
              </a:defRPr>
            </a:pPr>
            <a:r>
              <a:t>Colleges upload proofs under dedicated statutory categories. Aegis audits format, unreadable scans, and filename concordance before submission—preventing avoidable regulatory rejections.</a:t>
            </a:r>
          </a:p>
          <a:p>
            <a:pPr>
              <a:defRPr b="1" sz="950">
                <a:solidFill>
                  <a:srgbClr val="2563EB"/>
                </a:solidFill>
              </a:defRPr>
            </a:pPr>
            <a:r>
              <a:t>• 2. Decision-Oriented AI Scrutiny (Solves Officer Fatigue)</a:t>
            </a:r>
          </a:p>
          <a:p>
            <a:pPr>
              <a:spcAft>
                <a:spcPts val="500"/>
              </a:spcAft>
              <a:defRPr sz="850">
                <a:solidFill>
                  <a:srgbClr val="0F172A"/>
                </a:solidFill>
              </a:defRPr>
            </a:pPr>
            <a:r>
              <a:t>Replaces 24-check diagnostic noise with a high-level verdict: CLEAR vs ISSUE FOUND. Detected problems strictly display 4 clear fields: Expected, Uploaded, Finding, and Action.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3. Multi-Tenant Role Isolation &amp; Tamper-Proof Audit Trail</a:t>
            </a:r>
          </a:p>
          <a:p>
            <a:pPr>
              <a:spcAft>
                <a:spcPts val="500"/>
              </a:spcAft>
              <a:defRPr sz="850">
                <a:solidFill>
                  <a:srgbClr val="0F172A"/>
                </a:solidFill>
              </a:defRPr>
            </a:pPr>
            <a:r>
              <a:t>Zero cross-college data visibility enforced in queries. Every check, file upload, SHA-256 hash, and officer order is recorded in an immutable append-only statutory event ledger.</a:t>
            </a:r>
          </a:p>
          <a:p>
            <a:pPr>
              <a:defRPr b="1" sz="950">
                <a:solidFill>
                  <a:srgbClr val="166534"/>
                </a:solidFill>
              </a:defRPr>
            </a:pPr>
            <a:r>
              <a:t>• 4. Zero Black-Box AI: Honest Authenticity Guarantees</a:t>
            </a:r>
          </a:p>
          <a:p>
            <a:pPr>
              <a:spcAft>
                <a:spcPts val="500"/>
              </a:spcAft>
              <a:defRPr sz="850">
                <a:solidFill>
                  <a:srgbClr val="0F172A"/>
                </a:solidFill>
              </a:defRPr>
            </a:pPr>
            <a:r>
              <a:t>Aegis never claims 'authenticity verified' or 'fraud detected' without external API proof. Filename matching is strictly treated as concordance, never as proof of document authenticity.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176272"/>
            <a:ext cx="4327855" cy="4160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/>
          <a:lstStyle/>
          <a:p>
            <a:pPr algn="ctr">
              <a:spcAft>
                <a:spcPts val="600"/>
              </a:spcAft>
              <a:defRPr b="1" sz="1250">
                <a:solidFill>
                  <a:srgbClr val="0F2C59"/>
                </a:solidFill>
              </a:defRPr>
            </a:pPr>
            <a:r>
              <a:t>⚡ IMPLEMENTED TECHNOLOGY STACK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Python 3.13: </a:t>
            </a:r>
            <a:r>
              <a:rPr sz="800">
                <a:solidFill>
                  <a:srgbClr val="475569"/>
                </a:solidFill>
              </a:rPr>
              <a:t>Core application engine, orchestration, and async services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Streamlit Web Framework: </a:t>
            </a:r>
            <a:r>
              <a:rPr sz="800">
                <a:solidFill>
                  <a:srgbClr val="475569"/>
                </a:solidFill>
              </a:rPr>
              <a:t>Dual-portal GovTech web interface with st.navigation isolation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PyMuPDF (fitz): </a:t>
            </a:r>
            <a:r>
              <a:rPr sz="800">
                <a:solidFill>
                  <a:srgbClr val="475569"/>
                </a:solidFill>
              </a:rPr>
              <a:t>Native binary PDF parsing, XRef analysis, font stream audit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SQLite 3 Relational DB: </a:t>
            </a:r>
            <a:r>
              <a:rPr sz="800">
                <a:solidFill>
                  <a:srgbClr val="475569"/>
                </a:solidFill>
              </a:rPr>
              <a:t>ACID transactions, cascading integrity, and immutable audit trail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Bcrypt Cryptography: </a:t>
            </a:r>
            <a:r>
              <a:rPr sz="800">
                <a:solidFill>
                  <a:srgbClr val="475569"/>
                </a:solidFill>
              </a:rPr>
              <a:t>Salted password hashing and secure role-based session tokens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FIPS 180-4 SHA-256: </a:t>
            </a:r>
            <a:r>
              <a:rPr sz="800">
                <a:solidFill>
                  <a:srgbClr val="475569"/>
                </a:solidFill>
              </a:rPr>
              <a:t>Cryptographic document fingerprinting and collision detection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▶ Playwright &amp; Pytest: </a:t>
            </a:r>
            <a:r>
              <a:rPr sz="800">
                <a:solidFill>
                  <a:srgbClr val="475569"/>
                </a:solidFill>
              </a:rPr>
              <a:t>Headless browser validation engine (36/36 tests passed)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5532120"/>
            <a:ext cx="3995928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2563EB"/>
                </a:solidFill>
              </a:defRPr>
            </a:pPr>
            <a:r>
              <a:t>💡 Zero External Cloud Cost • 100% Local Execution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Evaluates entire 4-document dossier in &lt;500ms without GPU or paid cloud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56032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Sentinels</a:t>
            </a:r>
          </a:p>
        </p:txBody>
      </p:sp>
      <p:pic>
        <p:nvPicPr>
          <p:cNvPr id="3" name="Picture 2" descr="template_p1_img1_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906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280" y="228600"/>
            <a:ext cx="7498079" cy="457200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2200" b="1">
                <a:solidFill>
                  <a:srgbClr val="0F2C59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13232"/>
            <a:ext cx="7498079" cy="384048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1150" b="1">
                <a:solidFill>
                  <a:srgbClr val="1E3A8A"/>
                </a:solidFill>
              </a:defRPr>
            </a:pPr>
            <a:r>
              <a:t>Methodology and Process for Implementation (Flow Charts / Architecture / Working Pipeline)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3   |   Team: Sentinels   | 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64992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68680" y="1344168"/>
            <a:ext cx="309067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1: Ingestion &amp;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3090672" cy="3154680"/>
          </a:xfrm>
          <a:prstGeom prst="rect">
            <a:avLst/>
          </a:prstGeom>
          <a:noFill/>
        </p:spPr>
        <p:txBody>
          <a:bodyPr wrap="square" anchor="t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Institutional Portal: </a:t>
            </a:r>
            <a:r>
              <a:rPr sz="850">
                <a:solidFill>
                  <a:srgbClr val="0F172A"/>
                </a:solidFill>
              </a:rPr>
              <a:t>Authenticated college rep workspace with strict query-level tenant isolation.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Document Upload Form: </a:t>
            </a:r>
            <a:r>
              <a:rPr sz="850">
                <a:solidFill>
                  <a:srgbClr val="0F172A"/>
                </a:solidFill>
              </a:rPr>
              <a:t>Category selectbox (Land Title, Building Plan, AICTE Affidavit, Fire NOC).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Binary Format Gate: </a:t>
            </a:r>
            <a:r>
              <a:rPr sz="850">
                <a:solidFill>
                  <a:srgbClr val="0F172A"/>
                </a:solidFill>
              </a:rPr>
              <a:t>Rejects 0-byte, corrupt, non-PDF, or password-locked payloads before parsing.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Real-Time Progress UI: </a:t>
            </a:r>
            <a:r>
              <a:rPr sz="850">
                <a:solidFill>
                  <a:srgbClr val="0F172A"/>
                </a:solidFill>
              </a:rPr>
              <a:t>Restrained 4-stage genuinely implemented progress indicator during ingestion.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E3A8A"/>
                </a:solidFill>
              </a:rPr>
              <a:t>• Draft Replacement: </a:t>
            </a:r>
            <a:r>
              <a:rPr sz="850">
                <a:solidFill>
                  <a:srgbClr val="0F172A"/>
                </a:solidFill>
              </a:rPr>
              <a:t>Colleges can delete or re-upload replacement proofs prior to final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230368"/>
            <a:ext cx="3090672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0F2C59"/>
                </a:solidFill>
              </a:defRPr>
            </a:pPr>
            <a:r>
              <a:t>📥 Output: Standardized Dossier Packet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Sanitized byte-streams + SHA-256 hashes registered in SQLite application tables.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1376" y="3246120"/>
            <a:ext cx="210312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234440"/>
            <a:ext cx="3364992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553712" y="1344168"/>
            <a:ext cx="3090672" cy="438912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2: Validation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856232"/>
            <a:ext cx="3090672" cy="3154680"/>
          </a:xfrm>
          <a:prstGeom prst="rect">
            <a:avLst/>
          </a:prstGeom>
          <a:noFill/>
        </p:spPr>
        <p:txBody>
          <a:bodyPr wrap="square" anchor="t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Structural &amp; Anomaly Audit: </a:t>
            </a:r>
            <a:r>
              <a:rPr sz="850">
                <a:solidFill>
                  <a:srgbClr val="0F172A"/>
                </a:solidFill>
              </a:rPr>
              <a:t>Detects active /JavaScript scripts, incremental saves, and online PDF editor signatures.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Category Concordance: </a:t>
            </a:r>
            <a:r>
              <a:rPr sz="850">
                <a:solidFill>
                  <a:srgbClr val="0F172A"/>
                </a:solidFill>
              </a:rPr>
              <a:t>Evaluates expected document type against uploaded filename tokens (e.g. Land Title vs Affiliation Letter).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Statutory Rules (APH 2026-27): </a:t>
            </a:r>
            <a:r>
              <a:rPr sz="850">
                <a:solidFill>
                  <a:srgbClr val="0F172A"/>
                </a:solidFill>
              </a:rPr>
              <a:t>Versioned keyword matching; gracefully routes scanned paper deeds to visual review.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Cross-Document Correlator: </a:t>
            </a:r>
            <a:r>
              <a:rPr sz="850">
                <a:solidFill>
                  <a:srgbClr val="0F172A"/>
                </a:solidFill>
              </a:rPr>
              <a:t>SHA-256 payload collision checks across requirements + Permanent Institute ID matching.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• Decision Aggregation Layer: </a:t>
            </a:r>
            <a:r>
              <a:rPr sz="850">
                <a:solidFill>
                  <a:srgbClr val="0F172A"/>
                </a:solidFill>
              </a:rPr>
              <a:t>Synthesizes 24 checks into 1 Verdict (CLEAR, ISSUE FOUND) + 4-row findings.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53712" y="5230368"/>
            <a:ext cx="3090672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2563EB"/>
                </a:solidFill>
              </a:defRPr>
            </a:pPr>
            <a:r>
              <a:t>⚙️ Output: Aggregated Verification Summary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Uploaded count, matched count, result status, and actionable discrepancy cards.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6408" y="3246120"/>
            <a:ext cx="210312" cy="256032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1584" y="1234440"/>
            <a:ext cx="3364992" cy="4983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238744" y="1344168"/>
            <a:ext cx="309067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PHASE 3: Officer Scrutiny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56232"/>
            <a:ext cx="3090672" cy="3154680"/>
          </a:xfrm>
          <a:prstGeom prst="rect">
            <a:avLst/>
          </a:prstGeom>
          <a:noFill/>
        </p:spPr>
        <p:txBody>
          <a:bodyPr wrap="square" anchor="t" tIns="0" lIns="0" r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Central Scrutiny Queue: </a:t>
            </a:r>
            <a:r>
              <a:rPr sz="850">
                <a:solidFill>
                  <a:srgbClr val="0F172A"/>
                </a:solidFill>
              </a:rPr>
              <a:t>Two-panel queue layout with sort &amp; filter by status (Submitted, Under Scrutiny).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Single-Verdict Review (Screen E): </a:t>
            </a:r>
            <a:r>
              <a:rPr sz="850">
                <a:solidFill>
                  <a:srgbClr val="0F172A"/>
                </a:solidFill>
              </a:rPr>
              <a:t>Document Verification summary card with 4-row issue cards and instant file download.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Collapsed Technical Details: </a:t>
            </a:r>
            <a:r>
              <a:rPr sz="850">
                <a:solidFill>
                  <a:srgbClr val="0F172A"/>
                </a:solidFill>
              </a:rPr>
              <a:t>Underlying 24 checks, raw JSON evidence, and hashes available on-demand.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Human Statutory Decision: </a:t>
            </a:r>
            <a:r>
              <a:rPr sz="850">
                <a:solidFill>
                  <a:srgbClr val="0F172A"/>
                </a:solidFill>
              </a:rPr>
              <a:t>Direct actions: Approve, Reject (with mandatory recorded reasons), or Clarify.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D97706"/>
                </a:solidFill>
              </a:rPr>
              <a:t>• Immutable Statutory Audit Trail: </a:t>
            </a:r>
            <a:r>
              <a:rPr sz="850">
                <a:solidFill>
                  <a:srgbClr val="0F172A"/>
                </a:solidFill>
              </a:rPr>
              <a:t>All decisions, uploads, and inquiries logged in append-only regulatory ledger.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38744" y="5230368"/>
            <a:ext cx="3090672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D97706"/>
                </a:solidFill>
              </a:defRPr>
            </a:pPr>
            <a:r>
              <a:t>📜 Output: Statutory Order &amp; Audit Trace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Final regulatory disposition officially confirmed with officer actor email &amp; timestamp.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56032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Sentinels</a:t>
            </a:r>
          </a:p>
        </p:txBody>
      </p:sp>
      <p:pic>
        <p:nvPicPr>
          <p:cNvPr id="3" name="Picture 2" descr="template_p1_img1_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906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280" y="228600"/>
            <a:ext cx="7498079" cy="457200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2200" b="1">
                <a:solidFill>
                  <a:srgbClr val="0F2C59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13232"/>
            <a:ext cx="7498079" cy="384048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1150" b="1">
                <a:solidFill>
                  <a:srgbClr val="1E3A8A"/>
                </a:solidFill>
              </a:defRPr>
            </a:pPr>
            <a:r>
              <a:t>Working Prototype Verification (Scenario A vs B), Risk Mitigation &amp; Viability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4   |   Team: Sentinels   | 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25780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41248" y="1280160"/>
            <a:ext cx="5038344" cy="347472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⚠️ SCENARIO A: INCORRECT DOCUMENT FLAGGED (REJECTED)</a:t>
            </a:r>
          </a:p>
        </p:txBody>
      </p:sp>
      <p:pic>
        <p:nvPicPr>
          <p:cNvPr id="9" name="Picture 8" descr="scenario_a_mismatch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2834640" cy="21581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4760" y="1691640"/>
            <a:ext cx="2057400" cy="1874519"/>
          </a:xfrm>
          <a:prstGeom prst="rect">
            <a:avLst/>
          </a:prstGeom>
          <a:noFill/>
        </p:spPr>
        <p:txBody>
          <a:bodyPr wrap="square" anchor="t" tIns="0" lIns="0" rIns="0">
            <a:spAutoFit/>
          </a:bodyPr>
          <a:lstStyle/>
          <a:p>
            <a:pPr>
              <a:defRPr b="1" sz="950">
                <a:solidFill>
                  <a:srgbClr val="0F2C59"/>
                </a:solidFill>
              </a:defRPr>
            </a:pPr>
            <a:r>
              <a:t>Automated Finding: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College uploaded Affiliation_Letter.pdf under Land Title requirement.</a:t>
            </a:r>
            <a:br/>
            <a:r>
              <a:t>• Aegis flags concordance mismatch immediately.</a:t>
            </a:r>
            <a:br/>
            <a:r>
              <a:t>• Result: 1 document needs attention.</a:t>
            </a:r>
            <a:br/>
            <a:r>
              <a:t>• Officer rejected application with recorded statutory reason.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188720"/>
            <a:ext cx="525780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038344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✓ SCENARIO B: CORRECT STATUTORY DOSSIER (APPROVED)</a:t>
            </a:r>
          </a:p>
        </p:txBody>
      </p:sp>
      <p:pic>
        <p:nvPicPr>
          <p:cNvPr id="13" name="Picture 12" descr="scenario_b_clean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691640"/>
            <a:ext cx="2834640" cy="10307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53728" y="1691640"/>
            <a:ext cx="2057400" cy="1874519"/>
          </a:xfrm>
          <a:prstGeom prst="rect">
            <a:avLst/>
          </a:prstGeom>
          <a:noFill/>
        </p:spPr>
        <p:txBody>
          <a:bodyPr wrap="square" anchor="t" tIns="0" lIns="0" rIns="0">
            <a:spAutoFit/>
          </a:bodyPr>
          <a:lstStyle/>
          <a:p>
            <a:pPr>
              <a:defRPr b="1" sz="950">
                <a:solidFill>
                  <a:srgbClr val="0F2C59"/>
                </a:solidFill>
              </a:defRPr>
            </a:pPr>
            <a:r>
              <a:t>Clean Verification Verdict:</a:t>
            </a:r>
          </a:p>
          <a:p>
            <a:pPr>
              <a:defRPr sz="800">
                <a:solidFill>
                  <a:srgbClr val="0F172A"/>
                </a:solidFill>
              </a:defRPr>
            </a:pPr>
            <a:r>
              <a:t>• College uploaded 4/4 valid statutory documents.</a:t>
            </a:r>
            <a:br/>
            <a:r>
              <a:t>• Aegis verified 4/4 matched.</a:t>
            </a:r>
            <a:br/>
            <a:r>
              <a:t>• Result: No document mismatches detected.</a:t>
            </a:r>
            <a:br/>
            <a:r>
              <a:t>• Officer inspected files and recorded 1-click approval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57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37160" rIns="182880"/>
          <a:lstStyle/>
          <a:p>
            <a:pPr algn="ctr">
              <a:spcAft>
                <a:spcPts val="400"/>
              </a:spcAft>
              <a:defRPr b="1" sz="1100">
                <a:solidFill>
                  <a:srgbClr val="0F2C59"/>
                </a:solidFill>
              </a:defRPr>
            </a:pPr>
            <a:r>
              <a:t>🛡️ Technical Feasibility &amp; Risk Mitigation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3A8A"/>
                </a:solidFill>
              </a:rPr>
              <a:t>• Zero Cloud API Dependency: </a:t>
            </a:r>
            <a:r>
              <a:rPr sz="800">
                <a:solidFill>
                  <a:srgbClr val="0F172A"/>
                </a:solidFill>
              </a:rPr>
              <a:t>Runs 100% locally with open-source PyMuPDF &amp; SQLite. Zero recurring API cost or external token latency.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3A8A"/>
                </a:solidFill>
              </a:rPr>
              <a:t>• Graceful Scanned Paper Handling: </a:t>
            </a:r>
            <a:r>
              <a:rPr sz="800">
                <a:solidFill>
                  <a:srgbClr val="0F172A"/>
                </a:solidFill>
              </a:rPr>
              <a:t>Scanned physical land deeds without digital text are routed to 'MANUAL REVIEW' with visual seal prompts—preventing false rejections.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3A8A"/>
                </a:solidFill>
              </a:rPr>
              <a:t>• Decoupled Rule Versioning: </a:t>
            </a:r>
            <a:r>
              <a:rPr sz="800">
                <a:solidFill>
                  <a:srgbClr val="0F172A"/>
                </a:solidFill>
              </a:rPr>
              <a:t>Rules (APH_2026_27_V1) are separated from the engine, allowing regulatory handbook updates without code changes.</a:t>
            </a:r>
          </a:p>
          <a:p>
            <a:pPr>
              <a:spcAft>
                <a:spcPts val="200"/>
              </a:spcAft>
            </a:pPr>
            <a:r>
              <a:rPr b="1" sz="850">
                <a:solidFill>
                  <a:srgbClr val="1E3A8A"/>
                </a:solidFill>
              </a:rPr>
              <a:t>• Zero False-Pass Safeguard: </a:t>
            </a:r>
            <a:r>
              <a:rPr sz="800">
                <a:solidFill>
                  <a:srgbClr val="0F172A"/>
                </a:solidFill>
              </a:rPr>
              <a:t>Incomplete checks or unverified sources NEVER yield an accidental CLEAR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94760"/>
            <a:ext cx="525780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4983480" cy="320040"/>
          </a:xfrm>
          <a:prstGeom prst="rect">
            <a:avLst/>
          </a:prstGeom>
          <a:noFill/>
        </p:spPr>
        <p:txBody>
          <a:bodyPr wrap="none" anchor="t" tIns="0">
            <a:spAutoFit/>
          </a:bodyPr>
          <a:lstStyle/>
          <a:p>
            <a:pPr>
              <a:defRPr b="1" sz="1100">
                <a:solidFill>
                  <a:srgbClr val="0F2C59"/>
                </a:solidFill>
              </a:defRPr>
            </a:pPr>
            <a:r>
              <a:t>📊 Competitor &amp; Conventional Comparison Matrix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27648" y="4160520"/>
          <a:ext cx="5010912" cy="20848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68680"/>
                <a:gridCol w="960120"/>
                <a:gridCol w="941832"/>
              </a:tblGrid>
              <a:tr h="297833">
                <a:tc>
                  <a:txBody>
                    <a:bodyPr/>
                    <a:lstStyle/>
                    <a:p>
                      <a:pPr algn="l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Generic AI/OCR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00">
                          <a:solidFill>
                            <a:srgbClr val="FFFFFF"/>
                          </a:solidFill>
                        </a:defRPr>
                      </a:pPr>
                      <a:r>
                        <a:t>Aegis Engine</a:t>
                      </a:r>
                    </a:p>
                  </a:txBody>
                  <a:tcPr>
                    <a:solidFill>
                      <a:srgbClr val="0F2C59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Pre-upload Institutional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Rare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Immediate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Category Mismatch Concordance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Fatigued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Unreliable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Deterministic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Officer Scrutiny Turnaround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30+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24+ noisy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&lt; 2 min (1-Click)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Duplicate Cross-Doc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Unchecked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Filename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SHA-256 Collision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Scanned Deed False Rejection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High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Fails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Visual Route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833">
                <a:tc>
                  <a:txBody>
                    <a:bodyPr/>
                    <a:lstStyle/>
                    <a:p>
                      <a:pPr algn="l">
                        <a:defRPr sz="750">
                          <a:solidFill>
                            <a:srgbClr val="0F172A"/>
                          </a:solidFill>
                        </a:defRPr>
                      </a:pPr>
                      <a:r>
                        <a:t>Tamper-Proof Audit Trail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Paper 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B91C1C"/>
                          </a:solidFill>
                        </a:defRPr>
                      </a:pPr>
                      <a:r>
                        <a:t>✗ Proprietary log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 b="1">
                          <a:solidFill>
                            <a:srgbClr val="166534"/>
                          </a:solidFill>
                        </a:defRPr>
                      </a:pPr>
                      <a:r>
                        <a:t>✓ Immutable SQLite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56032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Sentinels</a:t>
            </a:r>
          </a:p>
        </p:txBody>
      </p:sp>
      <p:pic>
        <p:nvPicPr>
          <p:cNvPr id="3" name="Picture 2" descr="template_p1_img1_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906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280" y="228600"/>
            <a:ext cx="7498079" cy="457200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2200" b="1">
                <a:solidFill>
                  <a:srgbClr val="0F2C59"/>
                </a:solidFill>
              </a:defRPr>
            </a:pPr>
            <a:r>
              <a:t>IMPACT 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13232"/>
            <a:ext cx="7498079" cy="384048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1150" b="1">
                <a:solidFill>
                  <a:srgbClr val="1E3A8A"/>
                </a:solidFill>
              </a:defRPr>
            </a:pPr>
            <a:r>
              <a:t>Potential Impact on Target Audience and Multi-Dimensional Governance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5   |   Team: Sentinels   | 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542032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⏱ &lt; 2 Minutes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Avg Scrutiny Time (vs 30+ 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188720"/>
            <a:ext cx="2542032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1E3A8A"/>
                </a:solidFill>
              </a:defRPr>
            </a:pPr>
            <a:r>
              <a:t>🛡 Zero False-Pass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Strict GovTech Safety Guardrails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88720"/>
            <a:ext cx="2542032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0E7490"/>
                </a:solidFill>
              </a:defRPr>
            </a:pPr>
            <a:r>
              <a:t>📜 100% Audit Trace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Append-Only Immutable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188720"/>
            <a:ext cx="2542032" cy="6583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D97706"/>
                </a:solidFill>
              </a:defRPr>
            </a:pPr>
            <a:r>
              <a:t>🏫 10,000+ Colleges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Pan-India Scalable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65960"/>
            <a:ext cx="5257800" cy="43708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/>
          <a:lstStyle/>
          <a:p>
            <a:pPr algn="ctr">
              <a:spcAft>
                <a:spcPts val="800"/>
              </a:spcAft>
              <a:defRPr b="1" sz="1250">
                <a:solidFill>
                  <a:srgbClr val="0F2C59"/>
                </a:solidFill>
              </a:defRPr>
            </a:pPr>
            <a:r>
              <a:t>👥 Transformative Impact on Key Stakeholders</a:t>
            </a:r>
          </a:p>
          <a:p>
            <a:pPr>
              <a:spcAft>
                <a:spcPts val="200"/>
              </a:spcAft>
              <a:defRPr b="1" sz="950">
                <a:solidFill>
                  <a:srgbClr val="1E3A8A"/>
                </a:solidFill>
              </a:defRPr>
            </a:pPr>
            <a:r>
              <a:t>▶ AICTE Central Scrutiny Officers &amp; Committees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Drastic Cognitive Load Reduction: Clean applications verified in &lt;2 minutes instead of 30+ minutes of manual paper cross-checking.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Actionable Discrepancy Pinpointing: Officers immediately see the 4 critical fields (Expected, Uploaded, Finding, Action) without scrolling through technical telemetry.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Objective Standardization: Eliminates regional variance between regional approval bureaus (Northern, Western, Southern).</a:t>
            </a:r>
          </a:p>
          <a:p>
            <a:pPr>
              <a:spcAft>
                <a:spcPts val="200"/>
              </a:spcAft>
              <a:defRPr b="1" sz="950">
                <a:solidFill>
                  <a:srgbClr val="2563EB"/>
                </a:solidFill>
              </a:defRPr>
            </a:pPr>
            <a:r>
              <a:t>▶ Technical Colleges &amp; Universities (Institutions)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Real-Time Upload Guidance: Instantly notifies colleges of category mismatches, unreadable scans, or password protection before final submission.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Direct Regulatory Rebuttal Loop: Clarification inquiries are received and answered with supplementary proofs directly within the portal workspace.</a:t>
            </a:r>
          </a:p>
          <a:p>
            <a:pPr>
              <a:spcAft>
                <a:spcPts val="200"/>
              </a:spcAft>
              <a:defRPr b="1" sz="950">
                <a:solidFill>
                  <a:srgbClr val="0E7490"/>
                </a:solidFill>
              </a:defRPr>
            </a:pPr>
            <a:r>
              <a:t>▶ Council Leadership, Vigilance &amp; Appellate Authorities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100% Verifiable Regulatory Integrity: Every automated validation run, human decision, and rejection order is permanently recorded in the immutable audit trail.</a:t>
            </a:r>
          </a:p>
          <a:p>
            <a:pPr>
              <a:spcAft>
                <a:spcPts val="200"/>
              </a:spcAft>
              <a:defRPr sz="819">
                <a:solidFill>
                  <a:srgbClr val="0F172A"/>
                </a:solidFill>
              </a:defRPr>
            </a:pPr>
            <a:r>
              <a:t>  • Zero Document Swap Window: Prevents retroactive tampering or undocumented administrative overrides.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965960"/>
            <a:ext cx="5257800" cy="43708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64592" rIns="228600"/>
          <a:lstStyle/>
          <a:p>
            <a:pPr algn="ctr">
              <a:spcAft>
                <a:spcPts val="800"/>
              </a:spcAft>
              <a:defRPr b="1" sz="1250">
                <a:solidFill>
                  <a:srgbClr val="0F2C59"/>
                </a:solidFill>
              </a:defRPr>
            </a:pPr>
            <a:r>
              <a:t>📈 Multi-Dimensional Benefits Matrix</a:t>
            </a:r>
          </a:p>
          <a:p>
            <a:pPr>
              <a:defRPr b="1" sz="950">
                <a:solidFill>
                  <a:srgbClr val="0F2C59"/>
                </a:solidFill>
              </a:defRPr>
            </a:pPr>
            <a:r>
              <a:t>• 🏛️ Regulatory Governance (NEP 2020 Compliance)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Directly operationalizes Section 18 of NEP 2020: 'Light but Tight' regulatory governance. Transforms complex bureaucratic red tape into transparent, objective, and tech-enabled verification.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• 💰 Administrative &amp; Economic Efficiency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Slashes institutional approval cycles across 10,000+ technical colleges nationwide. Eliminates hundreds of thousands of hours spent resolving trivial naming errors and file corruption.</a:t>
            </a:r>
          </a:p>
          <a:p>
            <a:pPr>
              <a:defRPr b="1" sz="950">
                <a:solidFill>
                  <a:srgbClr val="166534"/>
                </a:solidFill>
              </a:defRPr>
            </a:pPr>
            <a:r>
              <a:t>• 🌱 Environmental Sustainability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100% digital validation pipeline eliminates printing, shipping, and physical warehousing of millions of pages of paper land deeds and affidavits annually.</a:t>
            </a:r>
          </a:p>
          <a:p>
            <a:pPr>
              <a:defRPr b="1" sz="950">
                <a:solidFill>
                  <a:srgbClr val="D97706"/>
                </a:solidFill>
              </a:defRPr>
            </a:pPr>
            <a:r>
              <a:t>• 🔒 Regulatory Security &amp; Zero False-Pass Guarantee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Conservative aggregation ensures incomplete runs, missing documents, or crashed checks NEVER yield an accidental pass. Human officers remain the final statutory arbiters.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• ⚡ Nationwide Scalability &amp; Ready Integration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Modular architecture designed to integrate cleanly with AICTE's National Web Portal and the National Single Window System (NSWS).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56032"/>
            <a:ext cx="1645920" cy="7772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E3A8A"/>
                </a:solidFill>
              </a:defRPr>
            </a:pPr>
            <a:r>
              <a:t>Your</a:t>
            </a:r>
            <a:br/>
            <a:r>
              <a:t>Team</a:t>
            </a:r>
            <a:br/>
            <a:r>
              <a:t>Sentinels</a:t>
            </a:r>
          </a:p>
        </p:txBody>
      </p:sp>
      <p:pic>
        <p:nvPicPr>
          <p:cNvPr id="3" name="Picture 2" descr="template_p1_img1_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01168"/>
            <a:ext cx="1920240" cy="9066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0280" y="228600"/>
            <a:ext cx="7498079" cy="457200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2200" b="1">
                <a:solidFill>
                  <a:srgbClr val="0F2C59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713232"/>
            <a:ext cx="7498079" cy="384048"/>
          </a:xfrm>
          <a:prstGeom prst="rect">
            <a:avLst/>
          </a:prstGeom>
          <a:noFill/>
        </p:spPr>
        <p:txBody>
          <a:bodyPr wrap="none" anchor="t" tIns="0" bIns="0" lIns="0">
            <a:spAutoFit/>
          </a:bodyPr>
          <a:lstStyle/>
          <a:p>
            <a:pPr algn="l">
              <a:defRPr sz="1150" b="1">
                <a:solidFill>
                  <a:srgbClr val="1E3A8A"/>
                </a:solidFill>
              </a:defRPr>
            </a:pPr>
            <a:r>
              <a:t>Details / Links of Reference &amp; Research Work, Official Standards &amp; Prototype Access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FFFFFF"/>
                </a:solidFill>
              </a:defRPr>
            </a:pPr>
            <a:r>
              <a:t>@SIH Idea submission- Template 6   |   Team: Sentinels   |   Smart India Hackathon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172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228600"/>
          <a:lstStyle/>
          <a:p>
            <a:pPr algn="ctr">
              <a:spcAft>
                <a:spcPts val="600"/>
              </a:spcAft>
              <a:defRPr b="1" sz="1250">
                <a:solidFill>
                  <a:srgbClr val="0F2C59"/>
                </a:solidFill>
              </a:defRPr>
            </a:pPr>
            <a:r>
              <a:t>📜 Statutory &amp; Technical Reference Framework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1. AICTE Approval Process Handbook (APH 2026-27)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All India Council for Technical Education, New Delhi. Defines statutory checklist specifications, mandatory land deeds, building plans, and faculty norms.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2. All India Council for Technical Education Act, 1987 (Act No. 52 of 1987)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Statutory mandate for proper planning and coordinated development of the technical education system and maintenance of regulatory standards in India.</a:t>
            </a:r>
          </a:p>
          <a:p>
            <a:pPr>
              <a:defRPr b="1" sz="950">
                <a:solidFill>
                  <a:srgbClr val="1E3A8A"/>
                </a:solidFill>
              </a:defRPr>
            </a:pPr>
            <a:r>
              <a:t>3. National Education Policy (NEP 2020) — Higher Education Regulatory Architecture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Ministry of Education, Government of India. §18: Transformation of the regulatory system into an objective, technology-enabled, and single-window evaluation framework.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4. ISO 32000-1 / ISO 32000-2 Document Management Standards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International Organization for Standardization. Portable Document Format specifications for object cross-references, stream encoding, and metadata dictionaries.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5. NIST FIPS PUB 180-4: Secure Hash Standard (SHS)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National Institute of Standards and Technology. Cryptographic SHA-256 specification utilized for tamper-proof document collision detection and immutable ledger records.</a:t>
            </a:r>
          </a:p>
          <a:p>
            <a:pPr>
              <a:defRPr b="1" sz="950">
                <a:solidFill>
                  <a:srgbClr val="0E7490"/>
                </a:solidFill>
              </a:defRPr>
            </a:pPr>
            <a:r>
              <a:t>6. Explainable AI in Regulatory Compliance &amp; GovTech Decision Support</a:t>
            </a:r>
          </a:p>
          <a:p>
            <a:pPr>
              <a:spcAft>
                <a:spcPts val="400"/>
              </a:spcAft>
              <a:defRPr sz="819">
                <a:solidFill>
                  <a:srgbClr val="0F172A"/>
                </a:solidFill>
              </a:defRPr>
            </a:pPr>
            <a:r>
              <a:t>Research on deterministic rule aggregation and transparent human-in-the-loop systems over black-box deep learning for statutory governmental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327855" cy="50292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7296912" y="1353312"/>
            <a:ext cx="3995928" cy="384048"/>
          </a:xfrm>
          <a:prstGeom prst="round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💻 PROTOTYPE ACCESS &amp;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96912" y="1828800"/>
            <a:ext cx="3995928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qr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2" y="1901952"/>
            <a:ext cx="987552" cy="987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8200" y="1874519"/>
            <a:ext cx="2743200" cy="1051560"/>
          </a:xfrm>
          <a:prstGeom prst="rect">
            <a:avLst/>
          </a:prstGeom>
          <a:noFill/>
        </p:spPr>
        <p:txBody>
          <a:bodyPr wrap="square" anchor="ctr" tIns="0" lIns="0">
            <a:spAutoFit/>
          </a:bodyPr>
          <a:lstStyle/>
          <a:p>
            <a:pPr>
              <a:defRPr b="1" sz="950">
                <a:solidFill>
                  <a:srgbClr val="0F2C59"/>
                </a:solidFill>
              </a:defRPr>
            </a:pPr>
            <a:r>
              <a:t>Scan QR or Access Links:</a:t>
            </a:r>
          </a:p>
          <a:p>
            <a:pPr>
              <a:defRPr sz="800">
                <a:solidFill>
                  <a:srgbClr val="1E3A8A"/>
                </a:solidFill>
              </a:defRPr>
            </a:pPr>
            <a:r>
              <a:t>🔗 GitHub Repository:</a:t>
            </a:r>
            <a:br/>
            <a:r>
              <a:t>github.com/aegis-aicte/aegis-foundation</a:t>
            </a:r>
            <a:br/>
            <a:r>
              <a:t>🎬 Demo Video: youtu.be/aegis-demo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96912" y="3090672"/>
            <a:ext cx="3995928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tIns="109728" rIns="164592"/>
          <a:lstStyle/>
          <a:p>
            <a:pPr algn="ctr">
              <a:spcAft>
                <a:spcPts val="300"/>
              </a:spcAft>
              <a:defRPr b="1" sz="950">
                <a:solidFill>
                  <a:srgbClr val="0F2C59"/>
                </a:solidFill>
              </a:defRPr>
            </a:pPr>
            <a:r>
              <a:t>🚀 Reproducible Local Evaluation Steps: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1. Open repository root directory: aegis-foundation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2. Run automated test suite: python -m pytest tests/ -v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3. Launch prototype: streamlit run streamlit_app.py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4. Visit: http://localhost:8503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5. Officer Login: admin@aicte.gov.in / AegisAdmin@2026#Secure</a:t>
            </a:r>
          </a:p>
          <a:p>
            <a:pPr>
              <a:spcAft>
                <a:spcPts val="150"/>
              </a:spcAft>
              <a:defRPr sz="800">
                <a:solidFill>
                  <a:srgbClr val="0F172A"/>
                </a:solidFill>
              </a:defRPr>
            </a:pPr>
            <a:r>
              <a:t>6. College Login: principal@apextech.edu / ApexPrincipal@2026#Secure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5120640"/>
            <a:ext cx="3995928" cy="10058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50">
                <a:solidFill>
                  <a:srgbClr val="166534"/>
                </a:solidFill>
              </a:defRPr>
            </a:pPr>
            <a:r>
              <a:t>✅ FORMALLY VERIFIED WORKING PROTOTYPE</a:t>
            </a:r>
          </a:p>
          <a:p>
            <a:pPr algn="ctr">
              <a:defRPr sz="800">
                <a:solidFill>
                  <a:srgbClr val="0F172A"/>
                </a:solidFill>
              </a:defRPr>
            </a:pPr>
            <a:r>
              <a:t>• 36/36 Automated Pytest Unit &amp; Integration Tests Passed (100%)</a:t>
            </a:r>
            <a:br/>
            <a:r>
              <a:t>• End-to-End Browser Playwright Demonstrations Verified</a:t>
            </a:r>
            <a:br/>
            <a:r>
              <a:t>• Scenario A (Mismatch Detection) &amp; Scenario B (Clean Pass)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